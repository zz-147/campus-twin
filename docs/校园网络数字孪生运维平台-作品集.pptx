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8BDF8"/>
                </a:solidFill>
                <a:latin typeface="Microsoft YaHei"/>
              </a:rPr>
              <a:t>个人项目作品集 · 2026.10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4EEFA"/>
                </a:solidFill>
                <a:latin typeface="Microsoft YaHei"/>
              </a:rPr>
              <a:t>校园网络数字孪生运维平台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CA5C3"/>
                </a:solidFill>
                <a:latin typeface="Microsoft YaHei"/>
              </a:rPr>
              <a:t>真实网络数据 · LangGraph 多 Agent · MCP 双向集成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2606040" cy="384048"/>
          </a:xfrm>
          <a:prstGeom prst="roundRect">
            <a:avLst>
              <a:gd name="adj" fmla="val 12000"/>
            </a:avLst>
          </a:prstGeom>
          <a:solidFill>
            <a:srgbClr val="101C3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621024"/>
            <a:ext cx="2386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4D399"/>
                </a:solidFill>
                <a:latin typeface="Microsoft YaHei"/>
              </a:rPr>
              <a:t>5 设备 / 6 主机 真实纳管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93592" y="3566160"/>
            <a:ext cx="2606040" cy="384048"/>
          </a:xfrm>
          <a:prstGeom prst="roundRect">
            <a:avLst>
              <a:gd name="adj" fmla="val 12000"/>
            </a:avLst>
          </a:prstGeom>
          <a:solidFill>
            <a:srgbClr val="101C3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3621024"/>
            <a:ext cx="2386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BBF24"/>
                </a:solidFill>
                <a:latin typeface="Microsoft YaHei"/>
              </a:rPr>
              <a:t>38 场景评测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3566160"/>
            <a:ext cx="2606040" cy="384048"/>
          </a:xfrm>
          <a:prstGeom prst="roundRect">
            <a:avLst>
              <a:gd name="adj" fmla="val 12000"/>
            </a:avLst>
          </a:prstGeom>
          <a:solidFill>
            <a:srgbClr val="101C30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3621024"/>
            <a:ext cx="2386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38BDF8"/>
                </a:solidFill>
                <a:latin typeface="Microsoft YaHei"/>
              </a:rPr>
              <a:t>171 + 256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34856" y="3566160"/>
            <a:ext cx="2606040" cy="384048"/>
          </a:xfrm>
          <a:prstGeom prst="roundRect">
            <a:avLst>
              <a:gd name="adj" fmla="val 12000"/>
            </a:avLst>
          </a:prstGeom>
          <a:solidFill>
            <a:srgbClr val="101C3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44584" y="3621024"/>
            <a:ext cx="2386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A78BFA"/>
                </a:solidFill>
                <a:latin typeface="Microsoft YaHei"/>
              </a:rPr>
              <a:t>MCP 23 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CA5C3"/>
                </a:solidFill>
                <a:latin typeface="Microsoft YaHei"/>
              </a:rPr>
              <a:t>从真实网络采集、故障检测、AI 归因到人机确认与 MCP 工具协议化的完整闭环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A5C3"/>
                </a:solidFill>
                <a:latin typeface="Microsoft YaHei"/>
              </a:rPr>
              <a:t>截图均为真实运行（3 张 Mock 状态图已在正文标注）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01 · 实验环境：Packet Tracer 9 + Network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拓扑 / 端口 / 可达性由 NC REST API 实时采集，不是静态示意图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7406640" cy="5074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0-PT实验拓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06" y="1280160"/>
            <a:ext cx="633138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132588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8BDF8"/>
                </a:solidFill>
                <a:latin typeface="Microsoft YaHei"/>
              </a:rPr>
              <a:t>环境要点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783080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4EEFA"/>
                </a:solidFill>
                <a:latin typeface="Microsoft YaHei"/>
              </a:rPr>
              <a:t>· 5 台网络设备全部被 NC 纳管（Managed）：Router-4331 / Core-3650 / 3×2960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532888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4EEFA"/>
                </a:solidFill>
                <a:latin typeface="Microsoft YaHei"/>
              </a:rPr>
              <a:t>· 6 台 PC + Server-1；拓扑 5 节点 4 链路，端口级采集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282696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4EEFA"/>
                </a:solidFill>
                <a:latin typeface="Microsoft YaHei"/>
              </a:rPr>
              <a:t>· Network Controller 提供 Real World Access REST API（本项目唯一真实数据源）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032504"/>
            <a:ext cx="3703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4EEFA"/>
                </a:solidFill>
                <a:latin typeface="Microsoft YaHei"/>
              </a:rPr>
              <a:t>· IOS-XE 16.x / IOS 15.0；VLAN 10/20/30/40/50 + Trunk + OSPF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5029200"/>
            <a:ext cx="3703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CA5C3"/>
                </a:solidFill>
                <a:latin typeface="Microsoft YaHei"/>
              </a:rPr>
              <a:t>数据链路：NC REST API → 后端 5s 采集 → WebSocket → 3D 大屏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02 · 系统架构：真实数据 + LangGraph 多 Agent +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全部组件在本机真实运行；7 个进程协同</a:t>
            </a:r>
          </a:p>
        </p:txBody>
      </p:sp>
      <p:pic>
        <p:nvPicPr>
          <p:cNvPr id="4" name="Picture 3" descr="arch-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43" y="1097280"/>
            <a:ext cx="973043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217920"/>
            <a:ext cx="11338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CA5C3"/>
                </a:solidFill>
                <a:latin typeface="Microsoft YaHei"/>
              </a:rPr>
              <a:t>端口：PT NC 58000 · 后端 8000 · Agent 8100 · 前端 5173 · MCP Bridge 8200 · MCP Inspector 6274 · Webhook 9000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03 · 3D 数字孪生大屏（真实数据）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左侧：平台总览；右侧：点击设备查看真实 NC 数据</a:t>
            </a:r>
          </a:p>
        </p:txBody>
      </p:sp>
      <p:pic>
        <p:nvPicPr>
          <p:cNvPr id="4" name="Picture 3" descr="01-平台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28339"/>
            <a:ext cx="5623560" cy="2883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24528"/>
            <a:ext cx="562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平台总览：数据来源「PT NC 真实采集」、5/5 设备在线、采集状态 netcon 正常、WebSocket 已连接</a:t>
            </a:r>
          </a:p>
        </p:txBody>
      </p:sp>
      <p:pic>
        <p:nvPicPr>
          <p:cNvPr id="6" name="Picture 5" descr="02-设备详情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28339"/>
            <a:ext cx="5623560" cy="2883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224528"/>
            <a:ext cx="562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设备详情：型号、管理 IP、可达性、端口状态与关联主机全部来自 NC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983480"/>
            <a:ext cx="11338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· 3D 场景为配置驱动：楼栋/设备/链路坐标来自场景配置，新增设备自动出现（pending → 确认/撤销）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· 告警脉冲、数据新鲜度、WebSocket 实时推送：故障注入实测 5 秒内大屏更新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04 · 告警生命周期与场景自动化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左：告警删除/清空（软删除+审计+撤销）；右：PT 加设备自动发现</a:t>
            </a:r>
          </a:p>
        </p:txBody>
      </p:sp>
      <p:pic>
        <p:nvPicPr>
          <p:cNvPr id="4" name="Picture 3" descr="03-告警管理与删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28339"/>
            <a:ext cx="5623560" cy="2883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24528"/>
            <a:ext cx="562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活跃告警禁止删除只能静默；已恢复告警可单条删除/一键清空，10 秒内可撤销并写审计</a:t>
            </a:r>
          </a:p>
        </p:txBody>
      </p:sp>
      <p:pic>
        <p:nvPicPr>
          <p:cNvPr id="6" name="Picture 5" descr="04-新设备自动发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28339"/>
            <a:ext cx="5623560" cy="2883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224528"/>
            <a:ext cx="562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PT 加设备 → 采集发现 → 侦察 Agent 推断归属楼栋 → 场景自动出现（此张为 Mock 状态图 ⚠️）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983480"/>
            <a:ext cx="11338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· 告警恢复判定不依赖 NC（NC 记录滞后 &gt;3 分钟）：用主机 ping / 设备可达性独立判定，标记 stale_source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· 删除/清空类写操作全部走「用户确认」：Agent 只生成 pending action，不直接执行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05 · AI 多 Agent 执行轨迹（LangGraph）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一次提问的完整执行链：意图 → 子任务计划 → 工具序列 → 汇总</a:t>
            </a:r>
          </a:p>
        </p:txBody>
      </p:sp>
      <p:pic>
        <p:nvPicPr>
          <p:cNvPr id="4" name="Picture 3" descr="05-AI多Agent执行轨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61" y="1143000"/>
            <a:ext cx="9540997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60807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LangGraph StateGraph：意图分类（规则优先 + LLM）→ 8 个 role 节点并行 → 汇总；trace 记录 plan、工具调用、耗时与停止原因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06 · 危险操作人机确认（interrupt）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写操作在图中暂停，用户确认后才执行；取消则数据不变</a:t>
            </a:r>
          </a:p>
        </p:txBody>
      </p:sp>
      <p:pic>
        <p:nvPicPr>
          <p:cNvPr id="4" name="Picture 3" descr="06-危险操作人工确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61" y="1143000"/>
            <a:ext cx="9540997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60807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LangGraph interrupt() 暂停图 → 前端红色确认卡片 → 取消后 38 条已恢复告警一条未动（实测）；action 10 分钟 TTL + CAS + 审计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07 · 路径追踪 3D（真实 NC flow-analysis）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PC-JX1 → SW-JX-2960 → Core-3650 → Server-1：4 跳，约 1 秒</a:t>
            </a:r>
          </a:p>
        </p:txBody>
      </p:sp>
      <p:pic>
        <p:nvPicPr>
          <p:cNvPr id="4" name="Picture 3" descr="07-路径追踪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845" y="1143000"/>
            <a:ext cx="9451829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053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调用 NC flow-analysis 真实接口；PT 只返回部分中间设备 → 用拓扑 + 主机接入关系 BFS 补全中间 hop（标 synthetic），3D 发光路径 + 逐跳端口 + 断点定位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08 · 断点定位与告警根因分组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左：链路中断时路径断点；右：根因聚合并抑制下游告警</a:t>
            </a:r>
          </a:p>
        </p:txBody>
      </p:sp>
      <p:pic>
        <p:nvPicPr>
          <p:cNvPr id="4" name="Picture 3" descr="08-路径断点定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28339"/>
            <a:ext cx="5623560" cy="2883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24528"/>
            <a:ext cx="562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路径 partial 时最后一跳红色 ✕ + 红色末段 + 面板断点原因（此张为 Mock 状态图 ⚠️）</a:t>
            </a:r>
          </a:p>
        </p:txBody>
      </p:sp>
      <p:pic>
        <p:nvPicPr>
          <p:cNvPr id="6" name="Picture 5" descr="09-告警根因分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28339"/>
            <a:ext cx="5623560" cy="2883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224528"/>
            <a:ext cx="562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根因组「上联链路中断」：成员 3、被抑制 2；下游告警灰显「被上游抑制」（此张为 Mock 状态图 ⚠️）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983480"/>
            <a:ext cx="11338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· 根因优先级：link_down &gt; device_unreachable &gt; device_offline &gt; host_down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· 抑制仅展示层：不删除告警、不改状态，避免「告警风暴」淹没根因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09 · Agent 通过 MCP 读取真实配置文件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Agent → MCP Bridge(8200) → filesystem MCP Server(stdio) → 真实文件</a:t>
            </a:r>
          </a:p>
        </p:txBody>
      </p:sp>
      <p:pic>
        <p:nvPicPr>
          <p:cNvPr id="4" name="Picture 3" descr="10-Agent通过MCP读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61" y="1143000"/>
            <a:ext cx="9540997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608076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trace.mcp_calls：filesystem/read_text_file ok · 6.88ms；回答引用真实 VLAN 10/20/30/40/50 与 trunk 配置；只读白名单，写操作被拒绝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10 · AI 流式输出与 RAG 引用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左：SSE 逐 token 渲染中；右：检索增强 + [K1]~[K5] 引用</a:t>
            </a:r>
          </a:p>
        </p:txBody>
      </p:sp>
      <p:pic>
        <p:nvPicPr>
          <p:cNvPr id="4" name="Picture 3" descr="11-AI流式输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28339"/>
            <a:ext cx="5623560" cy="2883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24528"/>
            <a:ext cx="562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SSE 流式中：状态条「正在检索知识库（命中 5 条）」+ 工具 chip + 停止生成按钮</a:t>
            </a:r>
          </a:p>
        </p:txBody>
      </p:sp>
      <p:pic>
        <p:nvPicPr>
          <p:cNvPr id="6" name="Picture 5" descr="12-RAG引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28339"/>
            <a:ext cx="5623560" cy="2883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224528"/>
            <a:ext cx="562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RAG：18 个知识块 BM25 检索命中 5 条，回答带 [K1]~[K5] 可点击引用与依据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983480"/>
            <a:ext cx="11338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· 真实 LLM 经 LangChain model.stream 推流，实测单次 2600+ token 事件；前端 80ms 节流渲染 + 停止生成 + 自动回退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· 无命中时明确回答「知识库无相关内容」，不编造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11 · MCP 双向集成能力清单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A：对外 MCP Server（10 工具/4 资源/3 提示词）；B：对内 MCP Client 桥接（23 工具）</a:t>
            </a:r>
          </a:p>
        </p:txBody>
      </p:sp>
      <p:pic>
        <p:nvPicPr>
          <p:cNvPr id="4" name="Picture 3" descr="13-MCP能力清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290" y="1097280"/>
            <a:ext cx="821093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官方 SDK 需 Python≥3.10 → MCP 进程独立 Python 3.14 环境，主服务 3.9 零侵入；只读白名单 + localhost + 全量审计日志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12 · 真实测试与评测数据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后端 171 / Agent 256 / MCP 40 tests；38 场景双引擎 100%</a:t>
            </a:r>
          </a:p>
        </p:txBody>
      </p:sp>
      <p:pic>
        <p:nvPicPr>
          <p:cNvPr id="4" name="Picture 3" descr="14-测试与评测数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290" y="1097280"/>
            <a:ext cx="821093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自动执行违规 0（所有写操作必须人工确认）；评测集覆盖 17 类场景；全部离线可复现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13 · MCP 协议验证与真实 AI 排障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左：MCP Inspector 连接成功；右：真实 DeepSeek 排障回答</a:t>
            </a:r>
          </a:p>
        </p:txBody>
      </p:sp>
      <p:pic>
        <p:nvPicPr>
          <p:cNvPr id="4" name="Picture 3" descr="16-MCP-Server已连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28339"/>
            <a:ext cx="5623560" cy="2883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224528"/>
            <a:ext cx="562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MCP Inspector：campus-twin Connected (1258ms)，协议 MCP 2025-11-25，TOOLS/PROMPTS/RESOURCES 列表全部 OK</a:t>
            </a:r>
          </a:p>
        </p:txBody>
      </p:sp>
      <p:pic>
        <p:nvPicPr>
          <p:cNvPr id="6" name="Picture 5" descr="17-AI真实问答排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28339"/>
            <a:ext cx="5623560" cy="28834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224528"/>
            <a:ext cx="562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AI 真实排障：根因、依据（设备/IP/端口/时间）、处置建议；危险操作走确认卡片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983480"/>
            <a:ext cx="11338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· 任意 MCP 客户端（Claude Desktop / Cursor / VS Code / Inspector）可接入平台能力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· AI 回答强制引用真实数据；无数据明确说明，不编造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14 · RAG 评测闭环（W15）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56 篇文档 / 107 chunk / 3 种切分 / 48 query / 4 种检索配置</a:t>
            </a:r>
          </a:p>
        </p:txBody>
      </p:sp>
      <p:pic>
        <p:nvPicPr>
          <p:cNvPr id="4" name="Picture 3" descr="16-RAG评测闭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80" y="1051560"/>
            <a:ext cx="9103359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E4EEFA"/>
                </a:solidFill>
                <a:latin typeface="Microsoft YaHei"/>
              </a:rPr>
              <a:t>15 · 可靠性 / 可观测性 / 可部署性（W15）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58952"/>
            <a:ext cx="11338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A5C3"/>
                </a:solidFill>
                <a:latin typeface="Microsoft YaHei"/>
              </a:rPr>
              <a:t>故障注入 · 断点恢复 · trace API · Docker + GitHub Actions CI</a:t>
            </a:r>
          </a:p>
        </p:txBody>
      </p:sp>
      <p:pic>
        <p:nvPicPr>
          <p:cNvPr id="4" name="Picture 3" descr="17-可靠性与可观测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80" y="1051560"/>
            <a:ext cx="9103359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4EEFA"/>
                </a:solidFill>
                <a:latin typeface="Microsoft YaHei"/>
              </a:rPr>
              <a:t>技术栈与核心数据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BDF8"/>
                </a:solidFill>
                <a:latin typeface="Microsoft YaHei"/>
              </a:rPr>
              <a:t>全部真实运行，可现场演示 / 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8BDF8"/>
                </a:solidFill>
                <a:latin typeface="Microsoft YaHei"/>
              </a:rPr>
              <a:t>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5486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E4EEFA"/>
                </a:solidFill>
                <a:latin typeface="Microsoft YaHei"/>
              </a:rPr>
              <a:t>Python / FastAPI / asyncio / SQLite WAL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E4EEFA"/>
                </a:solidFill>
                <a:latin typeface="Microsoft YaHei"/>
              </a:rPr>
              <a:t>LangGraph / LangChain Core / langchain-openai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E4EEFA"/>
                </a:solidFill>
                <a:latin typeface="Microsoft YaHei"/>
              </a:rPr>
              <a:t>MCP（Server + Client 桥接）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E4EEFA"/>
                </a:solidFill>
                <a:latin typeface="Microsoft YaHei"/>
              </a:rPr>
              <a:t>SSE / WebSocket / RAG（BM25-lite）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E4EEFA"/>
                </a:solidFill>
                <a:latin typeface="Microsoft YaHei"/>
              </a:rPr>
              <a:t>Three.js / Vite / 原生 JS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E4EEFA"/>
                </a:solidFill>
                <a:latin typeface="Microsoft YaHei"/>
              </a:rPr>
              <a:t>Cisco Packet Tracer 9 / NC REST API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E4EEFA"/>
                </a:solidFill>
                <a:latin typeface="Microsoft YaHei"/>
              </a:rPr>
              <a:t>Cisco IOS-XE（3650 / 2960 / ISR4331）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E4EEFA"/>
                </a:solidFill>
                <a:latin typeface="Microsoft YaHei"/>
              </a:rPr>
              <a:t>DeepSeek / OpenAI 兼容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CA5C3"/>
                </a:solidFill>
                <a:latin typeface="Microsoft YaHei"/>
              </a:rPr>
              <a:t>说明：截图均为真实运行；04/08/09 三张为 Mock 状态图，用于展示需故障注入的 UI 状态。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核心数据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真实网络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560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4EEFA"/>
                </a:solidFill>
                <a:latin typeface="Microsoft YaHei"/>
              </a:rPr>
              <a:t>5 设备 / 6 主机 / 4 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3580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358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4EEFA"/>
                </a:solidFill>
                <a:latin typeface="Microsoft YaHei"/>
              </a:rPr>
              <a:t>171 + 256 + 40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1129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51129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4EEFA"/>
                </a:solidFill>
                <a:latin typeface="Microsoft YaHei"/>
              </a:rPr>
              <a:t>38 场景：根因/设备/动作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986783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98678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4EEFA"/>
                </a:solidFill>
                <a:latin typeface="Microsoft YaHei"/>
              </a:rPr>
              <a:t>自动执行违规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62271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462271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4EEFA"/>
                </a:solidFill>
                <a:latin typeface="Microsoft YaHei"/>
              </a:rPr>
              <a:t>LangGraph 12 节点 / 23 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937759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93775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4EEFA"/>
                </a:solidFill>
                <a:latin typeface="Microsoft YaHei"/>
              </a:rPr>
              <a:t>Server 10 工具 + Bridge 23 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413247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CA5C3"/>
                </a:solidFill>
                <a:latin typeface="Microsoft YaHei"/>
              </a:rPr>
              <a:t>前端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413247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4EEFA"/>
                </a:solidFill>
                <a:latin typeface="Microsoft YaHei"/>
              </a:rPr>
              <a:t>3D 大屏 / 流式 / 引用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350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CA5C3"/>
                </a:solidFill>
                <a:latin typeface="Microsoft YaHei"/>
              </a:rPr>
              <a:t>个人项目 · 独立开发 · 2026.10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92240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校园网络数字孪生运维平台 · 作品集 · 2026.10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CA5C3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